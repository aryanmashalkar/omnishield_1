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confident. Team name + PS7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ACCURACY: say 'authentic CIC-IDS-2017' only if the real CSV is loaded (scripts/prepare_cic.py). Otherwise say 'CIC-IDS-2017-format modern flows'.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0.93 = NSL-KDD one-class benchmark (python -m evaluation.eval_detection).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wow moment — slow down. 'We don't just say what's happening; we say what's next.'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'and it runs live — let me show you' → cut to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2057400"/>
            <a:ext cx="146304" cy="2514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600" b="1">
                <a:solidFill>
                  <a:srgbClr val="F1F5F9"/>
                </a:solidFill>
                <a:latin typeface="Segoe UI"/>
              </a:rPr>
              <a:t>OmniShield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Segoe UI"/>
              </a:rPr>
              <a:t>Autonomous, on-prem cyber resilience for</a:t>
            </a:r>
          </a:p>
          <a:p>
            <a:pPr algn="l">
              <a:spcAft>
                <a:spcPts val="1600"/>
              </a:spcAft>
            </a:pPr>
            <a:r>
              <a:rPr sz="2200" b="1">
                <a:solidFill>
                  <a:srgbClr val="3B82F6"/>
                </a:solidFill>
                <a:latin typeface="Segoe UI"/>
              </a:rPr>
              <a:t>Critical National Infrastructure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Predict.  Correlate.  Contain — before the breach.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0B981"/>
                </a:solidFill>
                <a:latin typeface="Segoe UI"/>
              </a:rPr>
              <a:t>Problem Statement 7   ·   100% local LLM   ·   Zero data egress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F4444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SOCs are reactive. Attackers are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697480" cy="1737360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423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EF4444"/>
                </a:solidFill>
                <a:latin typeface="Segoe UI"/>
              </a:rPr>
              <a:t>1.59M</a:t>
            </a:r>
          </a:p>
          <a:p>
            <a:pPr algn="ctr">
              <a:spcAft>
                <a:spcPts val="800"/>
              </a:spcAft>
            </a:pPr>
            <a:r>
              <a:rPr sz="1250" b="0">
                <a:solidFill>
                  <a:srgbClr val="F1F5F9"/>
                </a:solidFill>
                <a:latin typeface="Segoe UI"/>
              </a:rPr>
              <a:t>CERT-In incidents,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377440"/>
            <a:ext cx="2697480" cy="1737360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560320"/>
            <a:ext cx="2423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59E0B"/>
                </a:solidFill>
                <a:latin typeface="Segoe UI"/>
              </a:rPr>
              <a:t>2 weeks</a:t>
            </a:r>
          </a:p>
          <a:p>
            <a:pPr algn="ctr">
              <a:spcAft>
                <a:spcPts val="800"/>
              </a:spcAft>
            </a:pPr>
            <a:r>
              <a:rPr sz="1250" b="0">
                <a:solidFill>
                  <a:srgbClr val="F1F5F9"/>
                </a:solidFill>
                <a:latin typeface="Segoe UI"/>
              </a:rPr>
              <a:t>AIIMS Delhi ransomware outage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2377440"/>
            <a:ext cx="2697480" cy="1737360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560320"/>
            <a:ext cx="2423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59E0B"/>
                </a:solidFill>
                <a:latin typeface="Segoe UI"/>
              </a:rPr>
              <a:t>&gt;70%</a:t>
            </a:r>
          </a:p>
          <a:p>
            <a:pPr algn="ctr">
              <a:spcAft>
                <a:spcPts val="800"/>
              </a:spcAft>
            </a:pPr>
            <a:r>
              <a:rPr sz="1250" b="0">
                <a:solidFill>
                  <a:srgbClr val="F1F5F9"/>
                </a:solidFill>
                <a:latin typeface="Segoe UI"/>
              </a:rPr>
              <a:t>govt entities on end-of-life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9136" y="2377440"/>
            <a:ext cx="2697480" cy="1737360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6296" y="2560320"/>
            <a:ext cx="24231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EF4444"/>
                </a:solidFill>
                <a:latin typeface="Segoe UI"/>
              </a:rPr>
              <a:t>weeks</a:t>
            </a:r>
          </a:p>
          <a:p>
            <a:pPr algn="ctr">
              <a:spcAft>
                <a:spcPts val="800"/>
              </a:spcAft>
            </a:pPr>
            <a:r>
              <a:rPr sz="1250" b="0">
                <a:solidFill>
                  <a:srgbClr val="F1F5F9"/>
                </a:solidFill>
                <a:latin typeface="Segoe UI"/>
              </a:rPr>
              <a:t>industry mean-time-to-detect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Static rules + signatures are blind to zero-days and low-and-slow APTs. The data is there — the intelligence to act on it isn't.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1F5F9"/>
                </a:solidFill>
                <a:latin typeface="Segoe UI"/>
              </a:rPr>
              <a:t>The data was always there.
The intelligence layer wasn't.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300" b="0">
                <a:solidFill>
                  <a:srgbClr val="F1F5F9"/>
                </a:solidFill>
                <a:latin typeface="Segoe UI"/>
              </a:rPr>
              <a:t>We rebuilt the SOC to be predictive and agentic — not reactive and rule-bound.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B82F6"/>
                </a:solidFill>
                <a:latin typeface="Segoe UI"/>
              </a:rPr>
              <a:t>Detect from behaviour  →  attribute with grounded AI  →  forecast the next move  →  contain in one click.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WHAT OMNISHIELD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One closed, autonomous loop</a:t>
            </a:r>
          </a:p>
        </p:txBody>
      </p:sp>
      <p:pic>
        <p:nvPicPr>
          <p:cNvPr id="7" name="Picture 6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572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468880"/>
            <a:ext cx="6400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F1F5F9"/>
                </a:solidFill>
                <a:latin typeface="Segoe UI"/>
              </a:rPr>
              <a:t>Six cooperating agents, one loop: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3B82F6"/>
                </a:solidFill>
              </a:rPr>
              <a:t>▸  </a:t>
            </a:r>
            <a:r>
              <a:rPr sz="1600" b="0">
                <a:solidFill>
                  <a:srgbClr val="F1F5F9"/>
                </a:solidFill>
                <a:latin typeface="Segoe UI"/>
              </a:rPr>
              <a:t>DETECT — behavioural UEBA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A78BFA"/>
                </a:solidFill>
              </a:rPr>
              <a:t>▸  </a:t>
            </a:r>
            <a:r>
              <a:rPr sz="1600" b="0">
                <a:solidFill>
                  <a:srgbClr val="F1F5F9"/>
                </a:solidFill>
                <a:latin typeface="Segoe UI"/>
              </a:rPr>
              <a:t>ATTRIBUTE — MITRE ATT&amp;CK RAG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</a:rPr>
              <a:t>▸  </a:t>
            </a:r>
            <a:r>
              <a:rPr sz="1600" b="0">
                <a:solidFill>
                  <a:srgbClr val="F1F5F9"/>
                </a:solidFill>
                <a:latin typeface="Segoe UI"/>
              </a:rPr>
              <a:t>PREDICT — next-move forecast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</a:rPr>
              <a:t>▸  </a:t>
            </a:r>
            <a:r>
              <a:rPr sz="1600" b="0">
                <a:solidFill>
                  <a:srgbClr val="F1F5F9"/>
                </a:solidFill>
                <a:latin typeface="Segoe UI"/>
              </a:rPr>
              <a:t>CORRELATE — group by host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EF4444"/>
                </a:solidFill>
              </a:rPr>
              <a:t>▸  </a:t>
            </a:r>
            <a:r>
              <a:rPr sz="1600" b="0">
                <a:solidFill>
                  <a:srgbClr val="F1F5F9"/>
                </a:solidFill>
                <a:latin typeface="Segoe UI"/>
              </a:rPr>
              <a:t>CONTAIN — human-gated SOAR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94A3B8"/>
                </a:solidFill>
              </a:rPr>
              <a:t>▸  </a:t>
            </a:r>
            <a:r>
              <a:rPr sz="1600" b="0">
                <a:solidFill>
                  <a:srgbClr val="F1F5F9"/>
                </a:solidFill>
                <a:latin typeface="Segoe UI"/>
              </a:rPr>
              <a:t>AUDIT — SQLite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0B981"/>
                </a:solidFill>
                <a:latin typeface="Segoe UI"/>
              </a:rPr>
              <a:t>100% local. Air-gap capable. Nothing leaves the perimeter.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DIFFERENTIATOR · MODERN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Not 1998 data. Real modern enterprise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10B981"/>
                </a:solidFill>
              </a:rPr>
              <a:t>▸  </a:t>
            </a:r>
            <a:r>
              <a:rPr sz="2000" b="0">
                <a:solidFill>
                  <a:srgbClr val="F1F5F9"/>
                </a:solidFill>
                <a:latin typeface="Segoe UI"/>
              </a:rPr>
              <a:t>Live WebSocket stream of CIC-IDS-2017 — authentic 2017 enterprise flows.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0B981"/>
                </a:solidFill>
              </a:rPr>
              <a:t>▸  </a:t>
            </a:r>
            <a:r>
              <a:rPr sz="2000" b="0">
                <a:solidFill>
                  <a:srgbClr val="F1F5F9"/>
                </a:solidFill>
                <a:latin typeface="Segoe UI"/>
              </a:rPr>
              <a:t>Modern threats: Heartbleed · Botnet · DDoS · PortScan · Slowloris · Infiltration.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0B981"/>
                </a:solidFill>
              </a:rPr>
              <a:t>▸  </a:t>
            </a:r>
            <a:r>
              <a:rPr sz="2000" b="0">
                <a:solidFill>
                  <a:srgbClr val="F1F5F9"/>
                </a:solidFill>
                <a:latin typeface="Segoe UI"/>
              </a:rPr>
              <a:t>Dataset-pluggable: NSL-KDD · UNSW-NB15 · CIC-IDS-2017 — switched by one env var.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59E0B"/>
                </a:solidFill>
                <a:latin typeface="Segoe UI"/>
              </a:rPr>
              <a:t>Most teams benchmark on 1998 KDD. We stream the traffic real SOCs actually face.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ML ENGINE · BEHAVIOURAL DETECTION (UEBA)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Multivariate IsolationForest — no signatures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852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3B82F6"/>
                </a:solidFill>
              </a:rPr>
              <a:t>▸  </a:t>
            </a:r>
            <a:r>
              <a:rPr sz="1700" b="0">
                <a:solidFill>
                  <a:srgbClr val="F1F5F9"/>
                </a:solidFill>
                <a:latin typeface="Segoe UI"/>
              </a:rPr>
              <a:t>One-class IsolationForest trains on baseline normal flows.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3B82F6"/>
                </a:solidFill>
              </a:rPr>
              <a:t>▸  </a:t>
            </a:r>
            <a:r>
              <a:rPr sz="1700" b="0">
                <a:solidFill>
                  <a:srgbClr val="F1F5F9"/>
                </a:solidFill>
                <a:latin typeface="Segoe UI"/>
              </a:rPr>
              <a:t>Per-entity UEBA: every host scored against ITS OWN normal — not a global threshold.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3B82F6"/>
                </a:solidFill>
              </a:rPr>
              <a:t>▸  </a:t>
            </a:r>
            <a:r>
              <a:rPr sz="1700" b="0">
                <a:solidFill>
                  <a:srgbClr val="F1F5F9"/>
                </a:solidFill>
                <a:latin typeface="Segoe UI"/>
              </a:rPr>
              <a:t>Catches the low-and-slow scans the univariate baseline can't see.</a:t>
            </a:r>
          </a:p>
        </p:txBody>
      </p:sp>
      <p:pic>
        <p:nvPicPr>
          <p:cNvPr id="8" name="Picture 7" descr="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480560"/>
            <a:ext cx="3108960" cy="194074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2011680"/>
            <a:ext cx="5120640" cy="3977639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tecti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40280"/>
            <a:ext cx="4754880" cy="351820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AI ATTRIBUTION · GROUNDED &amp; SOVEREIGN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Local LLM, grounded in MITRE ATT&amp;CK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852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Local Llama 3.1 (8B) + RAG over 222 MITRE ATT&amp;CK techniques.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Retrieval grounding doubles accuracy — an honest ablation.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~7s, on-box. No cloud, no API keys — nothing leaves the perimeter.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011680"/>
            <a:ext cx="5120640" cy="3977639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ttribu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40280"/>
            <a:ext cx="4754880" cy="33940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THE INNOVATION · NEXT-MOVE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We forecast the attacker's next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A deterministic graph over the ATT&amp;CK kill chain maps behaviour to a tactic — then predicts the next stage, so you pre-stage containment before it happens.</a:t>
            </a:r>
          </a:p>
        </p:txBody>
      </p:sp>
      <p:pic>
        <p:nvPicPr>
          <p:cNvPr id="8" name="Picture 7" descr="kill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17520"/>
            <a:ext cx="11338560" cy="3151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PortScan → Discovery → forecast: Lateral Movement.   DDoS → Impact → "terminal — isolate now."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ACTIVE INCIDENT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Weak signals → one story. No alert fatigue.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Scattered anomalies are grouped by source host into a single multi-stage incident — 40 red rows become one narrative.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737360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101498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Segoe UI"/>
              </a:rPr>
              <a:t>host  192.168.1.66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Discovery  →  Credential Access  →  Lateral Movement  →  Exfiltration      ⟶   forecast: IMPACT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F4444"/>
                </a:solidFill>
                <a:latin typeface="Segoe UI"/>
              </a:rPr>
              <a:t>SAFE AUTONOMY · HUMAN-GATED SOAR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One click. Threat neutralized. Fully audited.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5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Analyst clicks once → firewall rule injected → source IP isolated → NEUTRALIZED.</a:t>
            </a:r>
          </a:p>
          <a:p>
            <a:pPr algn="l">
              <a:spcAft>
                <a:spcPts val="15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The AI never blocks alone: HTTP 428 until a human authorizes (blast-radius gate).</a:t>
            </a:r>
          </a:p>
          <a:p>
            <a:pPr algn="l">
              <a:spcAft>
                <a:spcPts val="15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Every action logged to SQLite — reversible and court-auditable.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10B981"/>
                </a:solidFill>
                <a:latin typeface="Segoe UI"/>
              </a:rPr>
              <a:t>The AI recommends.  A human authorizes.  The system acts and audits.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ARCHITECTURE &amp;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Engineered, not hand-waved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3B82F6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FastAPI + WebSocket · React dashboard · Chroma vector store · Ollama local LLM.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3B82F6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Modular agents: Detection · Attribution · Forecast · Response · Audit.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3B82F6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47 automated tests (pytest). Reproducible benchmarks in evaluation/results/.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3B82F6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Hardened: no hard-coded secrets, CORS allow-list, prompt-injection tested.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82512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82512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Weeks → seconds, on your own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3611880" cy="2194560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32461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MTTD / MTTR</a:t>
            </a:r>
          </a:p>
          <a:p>
            <a:pPr algn="ctr">
              <a:spcAft>
                <a:spcPts val="600"/>
              </a:spcAft>
            </a:pPr>
            <a:r>
              <a:rPr sz="2500" b="1">
                <a:solidFill>
                  <a:srgbClr val="10B981"/>
                </a:solidFill>
                <a:latin typeface="Segoe UI"/>
              </a:rPr>
              <a:t>weeks → &lt;60s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on confirmed anomalies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51760"/>
            <a:ext cx="3611880" cy="2194560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32461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DATA SOVEREIGNTY</a:t>
            </a:r>
          </a:p>
          <a:p>
            <a:pPr algn="ctr">
              <a:spcAft>
                <a:spcPts val="600"/>
              </a:spcAft>
            </a:pPr>
            <a:r>
              <a:rPr sz="2500" b="1">
                <a:solidFill>
                  <a:srgbClr val="3B82F6"/>
                </a:solidFill>
                <a:latin typeface="Segoe UI"/>
              </a:rPr>
              <a:t>zero egress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on-prem, air-gap capable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651760"/>
            <a:ext cx="3611880" cy="2194560"/>
          </a:xfrm>
          <a:prstGeom prst="roundRect">
            <a:avLst/>
          </a:prstGeom>
          <a:solidFill>
            <a:srgbClr val="0D1424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2834640"/>
            <a:ext cx="32461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ADDRESSABLE</a:t>
            </a:r>
          </a:p>
          <a:p>
            <a:pPr algn="ctr">
              <a:spcAft>
                <a:spcPts val="600"/>
              </a:spcAft>
            </a:pPr>
            <a:r>
              <a:rPr sz="2500" b="1">
                <a:solidFill>
                  <a:srgbClr val="F59E0B"/>
                </a:solidFill>
                <a:latin typeface="Segoe UI"/>
              </a:rPr>
              <a:t>govt CNI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EOL-IT estate, no cloud SIEM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IBM: avg breach ~$4.4M; fast containment saves ~$1M+. AIIMS lost 2 weeks. We isolate in under a minute.</a:t>
            </a:r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920240"/>
            <a:ext cx="146304" cy="2651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000" b="1">
                <a:solidFill>
                  <a:srgbClr val="F1F5F9"/>
                </a:solidFill>
                <a:latin typeface="Segoe UI"/>
              </a:rPr>
              <a:t>OmniShield</a:t>
            </a:r>
          </a:p>
          <a:p>
            <a:pPr algn="l">
              <a:spcAft>
                <a:spcPts val="1800"/>
              </a:spcAft>
            </a:pPr>
            <a:r>
              <a:rPr sz="2000" b="0">
                <a:solidFill>
                  <a:srgbClr val="10B981"/>
                </a:solidFill>
                <a:latin typeface="Segoe UI"/>
              </a:rPr>
              <a:t>Detect from behaviour.  Predict the next move.  Contain in one click.  On-prem.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It doesn't just watch the breach — it gets ahead of it. And it runs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7607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B82F6"/>
                </a:solidFill>
                <a:latin typeface="Segoe UI"/>
              </a:rPr>
              <a:t>github.com/&lt;your-repo&gt;   ·   Team &lt;name&gt;   ·   Problem Statement 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