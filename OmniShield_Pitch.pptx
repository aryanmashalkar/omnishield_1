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confident. One breath, then the hook. Team name + PS7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 was always there — the intelligence to act on it wasn't.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loop left to right with your finger.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ACCURACY: only say 'authentic CIC-IDS-2017' if you loaded the real CSV via scripts/prepare_cic.py. Otherwise say 'CIC-IDS-2017-format modern flows'.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0.93 is the NSL-KDD one-class benchmark (reproducible: python -m evaluation.eval_detection). Say 'benchmarked F1 0.93' — don't claim it's a CIC number unless you re-ran eval on real CIC.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Sovereignty is the wedge cloud SOCs can't match — for CNI it's a procurement precondition.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your wow moment. Slow down here. 'We don't just say what's happening — we say what's next.'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maps word-for-word to PS7's 'correlate weak signals, map attack progression'.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benchmark JSON or the passing test count if asked — receipts, not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'and it runs live — let me show you.' then cut to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48840"/>
            <a:ext cx="146304" cy="2377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210312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1F5F9"/>
                </a:solidFill>
                <a:latin typeface="Segoe UI"/>
              </a:rPr>
              <a:t>OmniShield</a:t>
            </a:r>
          </a:p>
          <a:p>
            <a:pPr algn="l">
              <a:spcAft>
                <a:spcPts val="1800"/>
              </a:spcAft>
            </a:pPr>
            <a:r>
              <a:rPr sz="2200" b="0">
                <a:solidFill>
                  <a:srgbClr val="3B82F6"/>
                </a:solidFill>
                <a:latin typeface="Segoe UI"/>
              </a:rPr>
              <a:t>Autonomous, on-prem cyber resilience for Critical National Infrastructure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Predict.  Correlate.  Contain — before the breach.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Problem Statement 7   ·   100% local LLM   ·   Zero data egress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F4444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SOCs are reactive. Attackers are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 algn="l">
              <a:spcAft>
                <a:spcPts val="16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CERT-In handled 1.59M cyber incidents in 2023 — and climbing.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AIIMS Delhi: ransomware took a national hospital down for ~2 weeks.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&gt;70% of government entities run end-of-life IT (Nat'l Cyber Security Policy).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Industry mean-time-to-detect is measured in weeks-to-months (Mandiant, IBM).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59E0B"/>
                </a:solidFill>
                <a:latin typeface="Segoe UI"/>
              </a:rPr>
              <a:t>Static rules + signatures are blind to zero-days and low-and-slow APTs.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F1F5F9"/>
                </a:solidFill>
                <a:latin typeface="Segoe UI"/>
              </a:rPr>
              <a:t>The data was always there.
The intelligence layer wasn't.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>
                <a:solidFill>
                  <a:srgbClr val="F1F5F9"/>
                </a:solidFill>
                <a:latin typeface="Segoe UI"/>
              </a:rPr>
              <a:t>We rebuilt the SOC to be predictive and agentic — not reactive and rule-bound.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B82F6"/>
                </a:solidFill>
                <a:latin typeface="Segoe UI"/>
              </a:rPr>
              <a:t>Detect from behaviour  →  attribute with grounded AI  →  forecast the next move  →  contain in one click.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WHAT OMNISHIELD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One closed, autonomous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1783080" cy="1371600"/>
          </a:xfrm>
          <a:prstGeom prst="rect">
            <a:avLst/>
          </a:prstGeom>
          <a:solidFill>
            <a:srgbClr val="11182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1783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B82F6"/>
                </a:solidFill>
                <a:latin typeface="Segoe UI"/>
              </a:rPr>
              <a:t>DETECT</a:t>
            </a:r>
          </a:p>
          <a:p>
            <a:pPr algn="ctr"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behavioural UEBA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743200"/>
            <a:ext cx="1783080" cy="1371600"/>
          </a:xfrm>
          <a:prstGeom prst="rect">
            <a:avLst/>
          </a:prstGeom>
          <a:solidFill>
            <a:srgbClr val="11182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880360"/>
            <a:ext cx="1783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78BFA"/>
                </a:solidFill>
                <a:latin typeface="Segoe UI"/>
              </a:rPr>
              <a:t>ATTRIBUTE</a:t>
            </a:r>
          </a:p>
          <a:p>
            <a:pPr algn="ctr"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MITRE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1783080" cy="1371600"/>
          </a:xfrm>
          <a:prstGeom prst="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880360"/>
            <a:ext cx="1783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Segoe UI"/>
              </a:rPr>
              <a:t>PREDICT</a:t>
            </a:r>
          </a:p>
          <a:p>
            <a:pPr algn="ctr"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next-move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743200"/>
            <a:ext cx="1783080" cy="1371600"/>
          </a:xfrm>
          <a:prstGeom prst="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880360"/>
            <a:ext cx="1783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CORRELATE</a:t>
            </a:r>
          </a:p>
          <a:p>
            <a:pPr algn="ctr"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by host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2743200"/>
            <a:ext cx="1783080" cy="1371600"/>
          </a:xfrm>
          <a:prstGeom prst="rect">
            <a:avLst/>
          </a:prstGeom>
          <a:solidFill>
            <a:srgbClr val="11182B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9" y="2880360"/>
            <a:ext cx="1783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F4444"/>
                </a:solidFill>
                <a:latin typeface="Segoe UI"/>
              </a:rPr>
              <a:t>CONTAIN</a:t>
            </a:r>
          </a:p>
          <a:p>
            <a:pPr algn="ctr"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human-gated SOAR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12680" y="2743200"/>
            <a:ext cx="1783080" cy="1371600"/>
          </a:xfrm>
          <a:prstGeom prst="rect">
            <a:avLst/>
          </a:prstGeom>
          <a:solidFill>
            <a:srgbClr val="11182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2880360"/>
            <a:ext cx="1783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4A3B8"/>
                </a:solidFill>
                <a:latin typeface="Segoe UI"/>
              </a:rPr>
              <a:t>AUDIT</a:t>
            </a:r>
          </a:p>
          <a:p>
            <a:pPr algn="ctr">
              <a:spcAft>
                <a:spcPts val="8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SQLite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0B981"/>
                </a:solidFill>
                <a:latin typeface="Segoe UI"/>
              </a:rPr>
              <a:t>100% local inference (Llama 3.1 via Ollama).  Air-gap capable.  Nothing leaves the perimeter.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DIFFERENTIATOR · MODERN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Not 1998 data. Real modern enterprise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10B981"/>
                </a:solidFill>
              </a:rPr>
              <a:t>▸  </a:t>
            </a:r>
            <a:r>
              <a:rPr sz="2000" b="0">
                <a:solidFill>
                  <a:srgbClr val="F1F5F9"/>
                </a:solidFill>
                <a:latin typeface="Segoe UI"/>
              </a:rPr>
              <a:t>Live WebSocket stream of CIC-IDS-2017 — authentic 2017 enterprise flows.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0B981"/>
                </a:solidFill>
              </a:rPr>
              <a:t>▸  </a:t>
            </a:r>
            <a:r>
              <a:rPr sz="2000" b="0">
                <a:solidFill>
                  <a:srgbClr val="F1F5F9"/>
                </a:solidFill>
                <a:latin typeface="Segoe UI"/>
              </a:rPr>
              <a:t>Handles modern threats: Heartbleed, Botnet, DDoS, PortScan, Slowloris, Infiltration.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10B981"/>
                </a:solidFill>
              </a:rPr>
              <a:t>▸  </a:t>
            </a:r>
            <a:r>
              <a:rPr sz="2000" b="0">
                <a:solidFill>
                  <a:srgbClr val="F1F5F9"/>
                </a:solidFill>
                <a:latin typeface="Segoe UI"/>
              </a:rPr>
              <a:t>Dataset-pluggable adapters: NSL-KDD  ·  UNSW-NB15  ·  CIC-IDS-2017 — one env var.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F59E0B"/>
                </a:solidFill>
                <a:latin typeface="Segoe UI"/>
              </a:rPr>
              <a:t>Most teams benchmark on 1998 KDD. We stream the traffic real SOCs actually 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ML ENGINE · BEHAVIOURAL DETECTION (UEBA)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Multivariate IsolationForest — no signatures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67665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3B82F6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Trains a one-class IsolationForest on the baseline of normal flows.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3B82F6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Per-entity UEBA: every host scored against ITS OWN normal, not a global threshold.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3B82F6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Catches the low-and-slow scan / DoS / brute-force the univariate baseline can't see.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377440"/>
            <a:ext cx="3749039" cy="2377440"/>
          </a:xfrm>
          <a:prstGeom prst="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560320"/>
            <a:ext cx="3474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0B981"/>
                </a:solidFill>
                <a:latin typeface="Segoe UI"/>
              </a:rPr>
              <a:t>F1  0.15 → 0.93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detection benchmark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6× the univariate z-score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AI ATTRIBUTION · GROUNDED &amp; SOVEREIGN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Local LLM, grounded in MITRE ATT&amp;CK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67665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Local Llama 3.1 (8B) + RAG over 222 MITRE ATT&amp;CK techniques.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Retrieval grounding doubles accuracy — an honest ablation, not a claim.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~7s, on-box. No cloud, no API keys, no data leaves the perimeter.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2377440"/>
            <a:ext cx="3749039" cy="2377440"/>
          </a:xfrm>
          <a:prstGeom prst="rect">
            <a:avLst/>
          </a:prstGeom>
          <a:solidFill>
            <a:srgbClr val="11182B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560320"/>
            <a:ext cx="34747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A78BFA"/>
                </a:solidFill>
                <a:latin typeface="Segoe UI"/>
              </a:rPr>
              <a:t>0.35 → 0.75</a:t>
            </a: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top-1 attribution accuracy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RAG vs zero-shot (hit@k 0.90)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59E0B"/>
                </a:solidFill>
                <a:latin typeface="Segoe UI"/>
              </a:rPr>
              <a:t>THE INNOVATION · NEXT-MOVE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We forecast the attacker's next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A deterministic graph over the ATT&amp;CK kill chain maps behaviour to a tactic — then predicts the next stage, so you pre-stage containment before it happens.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57600"/>
            <a:ext cx="146304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  <a:latin typeface="Segoe UI"/>
              </a:rPr>
              <a:t>PortScan → Discovery   </a:t>
            </a:r>
            <a:r>
              <a:rPr sz="1600">
                <a:solidFill>
                  <a:srgbClr val="10B981"/>
                </a:solidFill>
                <a:latin typeface="Segoe UI"/>
              </a:rPr>
              <a:t>next: Lateral Movement (T1021 / T1210)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34840"/>
            <a:ext cx="146304" cy="5486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  <a:latin typeface="Segoe UI"/>
              </a:rPr>
              <a:t>Brute Force → Credential Access   </a:t>
            </a:r>
            <a:r>
              <a:rPr sz="1600">
                <a:solidFill>
                  <a:srgbClr val="3B82F6"/>
                </a:solidFill>
                <a:latin typeface="Segoe UI"/>
              </a:rPr>
              <a:t>next: Discovery → Lateral Movement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212079"/>
            <a:ext cx="146304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79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1F5F9"/>
                </a:solidFill>
                <a:latin typeface="Segoe UI"/>
              </a:rPr>
              <a:t>DDoS → Impact   </a:t>
            </a:r>
            <a:r>
              <a:rPr sz="1600">
                <a:solidFill>
                  <a:srgbClr val="EF4444"/>
                </a:solidFill>
                <a:latin typeface="Segoe UI"/>
              </a:rPr>
              <a:t>TERMINAL — this is the objective. Isolate now.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ACTIVE INCIDENT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Weak signals → one story. No alert fatigue.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Scattered anomalies are grouped by source host into a single multi-stage incident — 40 red rows become one narrative.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10515600" cy="1554480"/>
          </a:xfrm>
          <a:prstGeom prst="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03320"/>
            <a:ext cx="10058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3B82F6"/>
                </a:solidFill>
                <a:latin typeface="Segoe UI"/>
              </a:rPr>
              <a:t>host 192.168.1.66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Discovery  →  Credential Access  →  Lateral Movement  →  Exfiltration     ⟶  forecast: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F4444"/>
                </a:solidFill>
                <a:latin typeface="Segoe UI"/>
              </a:rPr>
              <a:t>SAFE AUTONOMY · HUMAN-GATED SOAR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One click. Threat neutralized. Fully audited.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Analyst clicks once → firewall rule injected → source IP isolated → status NEUTRALIZED.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The AI never blocks unilaterally: HTTP 428 until a human authorizes (blast-radius gate).</a:t>
            </a:r>
          </a:p>
          <a:p>
            <a:pPr algn="l">
              <a:spcAft>
                <a:spcPts val="1400"/>
              </a:spcAft>
            </a:pPr>
            <a:r>
              <a:rPr sz="1900" b="1">
                <a:solidFill>
                  <a:srgbClr val="EF4444"/>
                </a:solidFill>
              </a:rPr>
              <a:t>▸  </a:t>
            </a:r>
            <a:r>
              <a:rPr sz="1900" b="0">
                <a:solidFill>
                  <a:srgbClr val="F1F5F9"/>
                </a:solidFill>
                <a:latin typeface="Segoe UI"/>
              </a:rPr>
              <a:t>Every automated action logged to SQLite — reversible and court-auditable.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0B981"/>
                </a:solidFill>
                <a:latin typeface="Segoe UI"/>
              </a:rPr>
              <a:t>The AI recommends.  A human authorizes.  The system acts and audits.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3B82F6"/>
                </a:solidFill>
                <a:latin typeface="Segoe UI"/>
              </a:rPr>
              <a:t>ARCHITECTURE &amp;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Engineered, not hand-waved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FastAPI + WebSocket backend  ·  React/Vite SOC dashboard  ·  Chroma vector store  ·  Ollama local LLM.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Modular agents: Detection · Attribution · Forecast · Response · Audit.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47 automated tests (pytest).  Reproducible benchmarks in evaluation/results/.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3B82F6"/>
                </a:solidFill>
              </a:rPr>
              <a:t>▸  </a:t>
            </a:r>
            <a:r>
              <a:rPr sz="1800" b="0">
                <a:solidFill>
                  <a:srgbClr val="F1F5F9"/>
                </a:solidFill>
                <a:latin typeface="Segoe UI"/>
              </a:rPr>
              <a:t>Security-hardened: no hard-coded secrets, CORS allow-list, prompt-injection tested.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96012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0B981"/>
                </a:solidFill>
                <a:latin typeface="Segoe UI"/>
              </a:rP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OmniShield  ·  PS7: AI-Driven Cyber Resilience for Critical National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1F5F9"/>
                </a:solidFill>
                <a:latin typeface="Segoe UI"/>
              </a:rPr>
              <a:t>Weeks → seconds, on your own hardware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3611880" cy="2103120"/>
          </a:xfrm>
          <a:prstGeom prst="rect">
            <a:avLst/>
          </a:prstGeom>
          <a:solidFill>
            <a:srgbClr val="11182B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32461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MTTD / MTTR</a:t>
            </a:r>
          </a:p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0B981"/>
                </a:solidFill>
                <a:latin typeface="Segoe UI"/>
              </a:rPr>
              <a:t>weeks → &lt;60s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on confirmed anomalies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651760"/>
            <a:ext cx="3611880" cy="2103120"/>
          </a:xfrm>
          <a:prstGeom prst="rect">
            <a:avLst/>
          </a:prstGeom>
          <a:solidFill>
            <a:srgbClr val="11182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32461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DATA SOVEREIGNTY</a:t>
            </a:r>
          </a:p>
          <a:p>
            <a:pPr algn="ctr">
              <a:spcAft>
                <a:spcPts val="600"/>
              </a:spcAft>
            </a:pPr>
            <a:r>
              <a:rPr sz="2600" b="1">
                <a:solidFill>
                  <a:srgbClr val="3B82F6"/>
                </a:solidFill>
                <a:latin typeface="Segoe UI"/>
              </a:rPr>
              <a:t>zero egress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on-prem, air-gap capable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2651760"/>
            <a:ext cx="3611880" cy="2103120"/>
          </a:xfrm>
          <a:prstGeom prst="rect">
            <a:avLst/>
          </a:prstGeom>
          <a:solidFill>
            <a:srgbClr val="11182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834640"/>
            <a:ext cx="32461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94A3B8"/>
                </a:solidFill>
                <a:latin typeface="Segoe UI"/>
              </a:rPr>
              <a:t>ADDRESSABLE</a:t>
            </a:r>
          </a:p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59E0B"/>
                </a:solidFill>
                <a:latin typeface="Segoe UI"/>
              </a:rPr>
              <a:t>govt CNI</a:t>
            </a:r>
          </a:p>
          <a:p>
            <a:pPr algn="ctr">
              <a:spcAft>
                <a:spcPts val="8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EOL-IT estate, no cloud SIEM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IBM: average breach ~$4.4M; fast containment saves ~$1M+. AIIMS lost 2 weeks. We isolate in under a minute.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146304" cy="2560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9202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>
                <a:solidFill>
                  <a:srgbClr val="F1F5F9"/>
                </a:solidFill>
                <a:latin typeface="Segoe UI"/>
              </a:rPr>
              <a:t>OmniShield</a:t>
            </a:r>
          </a:p>
          <a:p>
            <a:pPr algn="l">
              <a:spcAft>
                <a:spcPts val="2000"/>
              </a:spcAft>
            </a:pPr>
            <a:r>
              <a:rPr sz="2000" b="0">
                <a:solidFill>
                  <a:srgbClr val="10B981"/>
                </a:solidFill>
                <a:latin typeface="Segoe UI"/>
              </a:rPr>
              <a:t>Detect from behaviour.  Predict the next move.  Contain in one click.  On-prem.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It doesn't just watch the breach. It gets ahead of it — and it runs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5669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B82F6"/>
                </a:solidFill>
                <a:latin typeface="Segoe UI"/>
              </a:rPr>
              <a:t>github.com/&lt;your-repo&gt;   ·   Team &lt;name&gt;   ·   Problem Statement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